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6"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E6E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9" d="100"/>
          <a:sy n="79" d="100"/>
        </p:scale>
        <p:origin x="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Survival</c:v>
                </c:pt>
              </c:strCache>
            </c:strRef>
          </c:tx>
          <c:spPr>
            <a:solidFill>
              <a:schemeClr val="accent1"/>
            </a:solidFill>
            <a:ln w="9525" cap="flat">
              <a:solidFill>
                <a:srgbClr val="F9F9F9"/>
              </a:solidFill>
              <a:prstDash val="solid"/>
              <a:round/>
            </a:ln>
            <a:effectLst/>
          </c:spPr>
          <c:dPt>
            <c:idx val="0"/>
            <c:bubble3D val="0"/>
            <c:spPr>
              <a:solidFill>
                <a:srgbClr val="4A6483"/>
              </a:solidFill>
              <a:effectLst/>
            </c:spPr>
            <c:extLst>
              <c:ext xmlns:c16="http://schemas.microsoft.com/office/drawing/2014/chart" uri="{C3380CC4-5D6E-409C-BE32-E72D297353CC}">
                <c16:uniqueId val="{00000001-C3A0-4E1F-9D54-91E446E0372B}"/>
              </c:ext>
            </c:extLst>
          </c:dPt>
          <c:dPt>
            <c:idx val="1"/>
            <c:bubble3D val="0"/>
            <c:spPr>
              <a:solidFill>
                <a:srgbClr val="5C8374"/>
              </a:solidFill>
              <a:effectLst/>
            </c:spPr>
            <c:extLst>
              <c:ext xmlns:c16="http://schemas.microsoft.com/office/drawing/2014/chart" uri="{C3380CC4-5D6E-409C-BE32-E72D297353CC}">
                <c16:uniqueId val="{00000003-C3A0-4E1F-9D54-91E446E0372B}"/>
              </c:ext>
            </c:extLst>
          </c:dPt>
          <c:dLbls>
            <c:dLbl>
              <c:idx val="0"/>
              <c:numFmt formatCode="0.0&quot;%&quot;"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A0-4E1F-9D54-91E446E0372B}"/>
                </c:ext>
              </c:extLst>
            </c:dLbl>
            <c:dLbl>
              <c:idx val="1"/>
              <c:numFmt formatCode="0.0&quot;%&quot;" sourceLinked="0"/>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A0-4E1F-9D54-91E446E0372B}"/>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Did not survive</c:v>
                </c:pt>
                <c:pt idx="1">
                  <c:v>Survived</c:v>
                </c:pt>
              </c:strCache>
            </c:strRef>
          </c:cat>
          <c:val>
            <c:numRef>
              <c:f>Sheet1!$B$2:$B$3</c:f>
              <c:numCache>
                <c:formatCode>General</c:formatCode>
                <c:ptCount val="2"/>
                <c:pt idx="0">
                  <c:v>61.6</c:v>
                </c:pt>
                <c:pt idx="1">
                  <c:v>38.4</c:v>
                </c:pt>
              </c:numCache>
            </c:numRef>
          </c:val>
          <c:extLst>
            <c:ext xmlns:c16="http://schemas.microsoft.com/office/drawing/2014/chart" uri="{C3380CC4-5D6E-409C-BE32-E72D297353CC}">
              <c16:uniqueId val="{00000004-C3A0-4E1F-9D54-91E446E0372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2B2B2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Survival rate</c:v>
                </c:pt>
              </c:strCache>
            </c:strRef>
          </c:tx>
          <c:spPr>
            <a:solidFill>
              <a:srgbClr val="5C8374"/>
            </a:solidFill>
            <a:effectLst/>
          </c:spPr>
          <c:invertIfNegative val="0"/>
          <c:dLbls>
            <c:numFmt formatCode="0.0&quot;%&quot;" sourceLinked="0"/>
            <c:spPr>
              <a:noFill/>
              <a:ln>
                <a:noFill/>
              </a:ln>
              <a:effectLst/>
            </c:spPr>
            <c:txPr>
              <a:bodyPr/>
              <a:lstStyle/>
              <a:p>
                <a:pPr>
                  <a:defRPr sz="13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Female</c:v>
                </c:pt>
                <c:pt idx="1">
                  <c:v>Male</c:v>
                </c:pt>
              </c:strCache>
            </c:strRef>
          </c:cat>
          <c:val>
            <c:numRef>
              <c:f>Sheet1!$B$2:$B$3</c:f>
              <c:numCache>
                <c:formatCode>General</c:formatCode>
                <c:ptCount val="2"/>
                <c:pt idx="0">
                  <c:v>74.2</c:v>
                </c:pt>
                <c:pt idx="1">
                  <c:v>18.899999999999999</c:v>
                </c:pt>
              </c:numCache>
            </c:numRef>
          </c:val>
          <c:extLst>
            <c:ext xmlns:c16="http://schemas.microsoft.com/office/drawing/2014/chart" uri="{C3380CC4-5D6E-409C-BE32-E72D297353CC}">
              <c16:uniqueId val="{00000000-0043-48F0-8DE4-9389B28F402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Survival rate</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0-4BDF-45D6-9D61-42F38E21F9C3}"/>
              </c:ext>
            </c:extLst>
          </c:dPt>
          <c:dPt>
            <c:idx val="1"/>
            <c:invertIfNegative val="0"/>
            <c:bubble3D val="0"/>
            <c:spPr>
              <a:solidFill>
                <a:srgbClr val="4A6483"/>
              </a:solidFill>
              <a:effectLst/>
            </c:spPr>
            <c:extLst>
              <c:ext xmlns:c16="http://schemas.microsoft.com/office/drawing/2014/chart" uri="{C3380CC4-5D6E-409C-BE32-E72D297353CC}">
                <c16:uniqueId val="{00000002-4BDF-45D6-9D61-42F38E21F9C3}"/>
              </c:ext>
            </c:extLst>
          </c:dPt>
          <c:dPt>
            <c:idx val="2"/>
            <c:invertIfNegative val="0"/>
            <c:bubble3D val="0"/>
            <c:spPr>
              <a:solidFill>
                <a:srgbClr val="5C8374"/>
              </a:solidFill>
              <a:effectLst/>
            </c:spPr>
            <c:extLst>
              <c:ext xmlns:c16="http://schemas.microsoft.com/office/drawing/2014/chart" uri="{C3380CC4-5D6E-409C-BE32-E72D297353CC}">
                <c16:uniqueId val="{00000004-4BDF-45D6-9D61-42F38E21F9C3}"/>
              </c:ext>
            </c:extLst>
          </c:dPt>
          <c:dLbls>
            <c:numFmt formatCode="0.0&quot;%&quot;" sourceLinked="0"/>
            <c:spPr>
              <a:noFill/>
              <a:ln>
                <a:noFill/>
              </a:ln>
              <a:effectLst/>
            </c:spPr>
            <c:txPr>
              <a:bodyPr/>
              <a:lstStyle/>
              <a:p>
                <a:pPr>
                  <a:defRPr sz="13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1st Class</c:v>
                </c:pt>
                <c:pt idx="1">
                  <c:v>2nd Class</c:v>
                </c:pt>
                <c:pt idx="2">
                  <c:v>3rd Class</c:v>
                </c:pt>
              </c:strCache>
            </c:strRef>
          </c:cat>
          <c:val>
            <c:numRef>
              <c:f>Sheet1!$B$2:$B$4</c:f>
              <c:numCache>
                <c:formatCode>General</c:formatCode>
                <c:ptCount val="3"/>
                <c:pt idx="0">
                  <c:v>62.9</c:v>
                </c:pt>
                <c:pt idx="1">
                  <c:v>47.3</c:v>
                </c:pt>
                <c:pt idx="2">
                  <c:v>24.2</c:v>
                </c:pt>
              </c:numCache>
            </c:numRef>
          </c:val>
          <c:extLst>
            <c:ext xmlns:c16="http://schemas.microsoft.com/office/drawing/2014/chart" uri="{C3380CC4-5D6E-409C-BE32-E72D297353CC}">
              <c16:uniqueId val="{00000005-4BDF-45D6-9D61-42F38E21F9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Passengers</c:v>
                </c:pt>
              </c:strCache>
            </c:strRef>
          </c:tx>
          <c:spPr>
            <a:solidFill>
              <a:srgbClr val="4A6483"/>
            </a:solidFill>
            <a:effectLst/>
          </c:spPr>
          <c:invertIfNegative val="0"/>
          <c:dLbls>
            <c:numFmt formatCode="#,##0" sourceLinked="0"/>
            <c:spPr>
              <a:noFill/>
              <a:ln>
                <a:noFill/>
              </a:ln>
              <a:effectLst/>
            </c:spPr>
            <c:txPr>
              <a:bodyPr/>
              <a:lstStyle/>
              <a:p>
                <a:pPr>
                  <a:defRPr sz="1000" b="0" i="0" u="none" strike="noStrike">
                    <a:solidFill>
                      <a:srgbClr val="2B2B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0-10</c:v>
                </c:pt>
                <c:pt idx="1">
                  <c:v>11-20</c:v>
                </c:pt>
                <c:pt idx="2">
                  <c:v>21-30</c:v>
                </c:pt>
                <c:pt idx="3">
                  <c:v>31-40</c:v>
                </c:pt>
                <c:pt idx="4">
                  <c:v>41-50</c:v>
                </c:pt>
                <c:pt idx="5">
                  <c:v>51-60</c:v>
                </c:pt>
                <c:pt idx="6">
                  <c:v>61-70</c:v>
                </c:pt>
                <c:pt idx="7">
                  <c:v>71-80</c:v>
                </c:pt>
              </c:strCache>
            </c:strRef>
          </c:cat>
          <c:val>
            <c:numRef>
              <c:f>Sheet1!$B$2:$B$9</c:f>
              <c:numCache>
                <c:formatCode>General</c:formatCode>
                <c:ptCount val="8"/>
                <c:pt idx="0">
                  <c:v>64</c:v>
                </c:pt>
                <c:pt idx="1">
                  <c:v>115</c:v>
                </c:pt>
                <c:pt idx="2">
                  <c:v>220</c:v>
                </c:pt>
                <c:pt idx="3">
                  <c:v>155</c:v>
                </c:pt>
                <c:pt idx="4">
                  <c:v>86</c:v>
                </c:pt>
                <c:pt idx="5">
                  <c:v>42</c:v>
                </c:pt>
                <c:pt idx="6">
                  <c:v>17</c:v>
                </c:pt>
                <c:pt idx="7">
                  <c:v>5</c:v>
                </c:pt>
              </c:numCache>
            </c:numRef>
          </c:val>
          <c:extLst>
            <c:ext xmlns:c16="http://schemas.microsoft.com/office/drawing/2014/chart" uri="{C3380CC4-5D6E-409C-BE32-E72D297353CC}">
              <c16:uniqueId val="{00000000-BC5B-4DA4-A9DA-0990326699E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A0D76-126F-42CB-994D-13C12DB685B2}"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2655E-C61A-44F8-92AC-0B3C4D34D7A5}" type="slidenum">
              <a:rPr lang="en-IN" smtClean="0"/>
              <a:t>‹#›</a:t>
            </a:fld>
            <a:endParaRPr lang="en-IN"/>
          </a:p>
        </p:txBody>
      </p:sp>
    </p:spTree>
    <p:extLst>
      <p:ext uri="{BB962C8B-B14F-4D97-AF65-F5344CB8AC3E}">
        <p14:creationId xmlns:p14="http://schemas.microsoft.com/office/powerpoint/2010/main" val="878954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F8E82-91EA-E0CE-C7F3-33CA88804F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B4885C-CC56-498F-9511-4A8D3DCA2A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D71675-F8DB-3D14-A4CE-5B64D678D7E7}"/>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5" name="Footer Placeholder 4">
            <a:extLst>
              <a:ext uri="{FF2B5EF4-FFF2-40B4-BE49-F238E27FC236}">
                <a16:creationId xmlns:a16="http://schemas.microsoft.com/office/drawing/2014/main" id="{8CA533D4-5339-27CE-1532-EAF4C6145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041762-8D1D-616A-8660-662E93B9F045}"/>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4129422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0E687-B3F5-43B4-196C-684D0FC1CA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7B8933E-2546-454A-A94B-F66B3D9F7A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F68B20-30B8-1C68-95AE-B178A3C70DBE}"/>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5" name="Footer Placeholder 4">
            <a:extLst>
              <a:ext uri="{FF2B5EF4-FFF2-40B4-BE49-F238E27FC236}">
                <a16:creationId xmlns:a16="http://schemas.microsoft.com/office/drawing/2014/main" id="{3B1DFC43-6BF8-CA68-BE81-38EEA157AF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144A4F-B950-A9DE-2C56-0FA87806C1F3}"/>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1005968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0D60-E266-5F3C-E61F-75A9CF0849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1A3975-5CAA-0569-801D-4D453F97C4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E35268-46B5-B827-2F60-104928B28C01}"/>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5" name="Footer Placeholder 4">
            <a:extLst>
              <a:ext uri="{FF2B5EF4-FFF2-40B4-BE49-F238E27FC236}">
                <a16:creationId xmlns:a16="http://schemas.microsoft.com/office/drawing/2014/main" id="{930D9328-80A2-EB75-F102-95CF3371AF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2036AA-CC73-FED0-2027-189DC9CD77DC}"/>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2038207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C3B0-75F6-C8F3-2070-56DCFE7420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B6F619-EEFB-A78A-9B41-7D4AA7E19E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6E89C9-C0FE-F4D7-D43A-40837D097B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FE989A-7FED-C8C8-0BEF-5A12534817D8}"/>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6" name="Footer Placeholder 5">
            <a:extLst>
              <a:ext uri="{FF2B5EF4-FFF2-40B4-BE49-F238E27FC236}">
                <a16:creationId xmlns:a16="http://schemas.microsoft.com/office/drawing/2014/main" id="{068F1731-BA2F-D92B-19BB-0E70ACB2F3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E45BF9-2F79-45DE-137E-C9BDD691F7CB}"/>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3708149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40BA-AAAA-8ADE-4744-9AF7CF0F9E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C9DD52-108A-1EC9-D481-AFCD7CBBE2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A42317-AFF7-17A2-5E22-3026B5DB5D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023945-C4BC-20D8-77BB-100B68D173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BEF9A0-33AC-FB2B-8C95-37DE0A4E9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C2441B-52D5-3C4B-4464-6C58E3B6D59E}"/>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8" name="Footer Placeholder 7">
            <a:extLst>
              <a:ext uri="{FF2B5EF4-FFF2-40B4-BE49-F238E27FC236}">
                <a16:creationId xmlns:a16="http://schemas.microsoft.com/office/drawing/2014/main" id="{A011C995-4FF8-7500-39C0-947A8BF4C2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5EC4FF-7496-B31F-365F-53E50F1EB8F3}"/>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1731724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FFD7-3E1A-DEAA-6E6E-8C13BDFEC7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D6D82CD-29F1-C0AC-D110-2B4C3C8832E4}"/>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4" name="Footer Placeholder 3">
            <a:extLst>
              <a:ext uri="{FF2B5EF4-FFF2-40B4-BE49-F238E27FC236}">
                <a16:creationId xmlns:a16="http://schemas.microsoft.com/office/drawing/2014/main" id="{B14F3D3F-9C19-8547-0397-2AE17B9DDD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659579-DE82-AFDC-D426-79716904743A}"/>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1340558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ED13498-9D02-16B2-A09E-DC95BEF0AA57}"/>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3" name="Footer Placeholder 2">
            <a:extLst>
              <a:ext uri="{FF2B5EF4-FFF2-40B4-BE49-F238E27FC236}">
                <a16:creationId xmlns:a16="http://schemas.microsoft.com/office/drawing/2014/main" id="{26BA091E-9D65-97E8-4357-8DD27B66EA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D7B1AD8-F912-FBF0-FAD9-A0FDEC1EC5EB}"/>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2039196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615CE-FD51-2A13-C29D-A4B0A24B99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2103BF-C210-B0AB-A43C-89701ABBA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BC85151-A5F4-5CC5-8FE3-BA75F3F479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625E8A-F186-1754-4F58-C88A44929224}"/>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6" name="Footer Placeholder 5">
            <a:extLst>
              <a:ext uri="{FF2B5EF4-FFF2-40B4-BE49-F238E27FC236}">
                <a16:creationId xmlns:a16="http://schemas.microsoft.com/office/drawing/2014/main" id="{A203E3D9-431C-724E-1362-4DCBC1956C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A13971-0857-47F2-FE2E-40F33FB887F6}"/>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404611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6A711-4CA4-49C8-5242-2D8EE16FE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1E86EC-A3F3-961A-3736-C7EA0C04E1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27B2C3F-5CD9-40C3-C766-CD7A90DBE6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3AD1C8-9D95-0057-7498-2FBE3D375CF0}"/>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6" name="Footer Placeholder 5">
            <a:extLst>
              <a:ext uri="{FF2B5EF4-FFF2-40B4-BE49-F238E27FC236}">
                <a16:creationId xmlns:a16="http://schemas.microsoft.com/office/drawing/2014/main" id="{EC10912F-7ACD-6152-C849-AB5A4B1406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8D75A8-EB7C-EFDC-8F4D-75A9FA8E521D}"/>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852235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3D0D-9B22-FBBE-8BB6-C2888F74F4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CCE04C-22E5-BFE4-C9F5-7A5AF5B77E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54A82-5F89-F6DE-D0E6-84E023FE7F7F}"/>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5" name="Footer Placeholder 4">
            <a:extLst>
              <a:ext uri="{FF2B5EF4-FFF2-40B4-BE49-F238E27FC236}">
                <a16:creationId xmlns:a16="http://schemas.microsoft.com/office/drawing/2014/main" id="{F2BAAF34-24AE-7DF4-18E5-9051D5DEF2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DD38ED-37E3-6872-E093-F04A23A2F357}"/>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2027939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AC2F7E-50DF-0441-D191-E24B20444D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36B413-AC10-C378-7F34-313DC9A708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E34752-9772-0781-0AA2-7AA60D885FE6}"/>
              </a:ext>
            </a:extLst>
          </p:cNvPr>
          <p:cNvSpPr>
            <a:spLocks noGrp="1"/>
          </p:cNvSpPr>
          <p:nvPr>
            <p:ph type="dt" sz="half" idx="10"/>
          </p:nvPr>
        </p:nvSpPr>
        <p:spPr/>
        <p:txBody>
          <a:bodyPr/>
          <a:lstStyle/>
          <a:p>
            <a:fld id="{8D1ED55A-35C7-43AB-8362-FFA7DB1A1582}" type="datetimeFigureOut">
              <a:rPr lang="en-IN" smtClean="0"/>
              <a:t>08-09-2026</a:t>
            </a:fld>
            <a:endParaRPr lang="en-IN"/>
          </a:p>
        </p:txBody>
      </p:sp>
      <p:sp>
        <p:nvSpPr>
          <p:cNvPr id="5" name="Footer Placeholder 4">
            <a:extLst>
              <a:ext uri="{FF2B5EF4-FFF2-40B4-BE49-F238E27FC236}">
                <a16:creationId xmlns:a16="http://schemas.microsoft.com/office/drawing/2014/main" id="{FDD9EBED-6EAD-89B0-2EC5-7E6B4DA21A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944527-BD61-54A0-B476-8DE32C12F2AB}"/>
              </a:ext>
            </a:extLst>
          </p:cNvPr>
          <p:cNvSpPr>
            <a:spLocks noGrp="1"/>
          </p:cNvSpPr>
          <p:nvPr>
            <p:ph type="sldNum" sz="quarter" idx="12"/>
          </p:nvPr>
        </p:nvSpPr>
        <p:spPr/>
        <p:txBody>
          <a:bodyPr/>
          <a:lstStyle/>
          <a:p>
            <a:fld id="{69ED825F-E988-4EA2-B952-54E1570D5915}" type="slidenum">
              <a:rPr lang="en-IN" smtClean="0"/>
              <a:t>‹#›</a:t>
            </a:fld>
            <a:endParaRPr lang="en-IN"/>
          </a:p>
        </p:txBody>
      </p:sp>
    </p:spTree>
    <p:extLst>
      <p:ext uri="{BB962C8B-B14F-4D97-AF65-F5344CB8AC3E}">
        <p14:creationId xmlns:p14="http://schemas.microsoft.com/office/powerpoint/2010/main" val="2820177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2291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5A022E-2CFF-8B53-040A-66C94C66C1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BDE49D-EE11-5517-CFAE-6150096D99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19DAB3-5FC7-A670-42D5-A1CB0EA28A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1ED55A-35C7-43AB-8362-FFA7DB1A1582}" type="datetimeFigureOut">
              <a:rPr lang="en-IN" smtClean="0"/>
              <a:t>08-09-2026</a:t>
            </a:fld>
            <a:endParaRPr lang="en-IN"/>
          </a:p>
        </p:txBody>
      </p:sp>
      <p:sp>
        <p:nvSpPr>
          <p:cNvPr id="5" name="Footer Placeholder 4">
            <a:extLst>
              <a:ext uri="{FF2B5EF4-FFF2-40B4-BE49-F238E27FC236}">
                <a16:creationId xmlns:a16="http://schemas.microsoft.com/office/drawing/2014/main" id="{8B5803B4-EF94-7727-C94F-62A669D62B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02CECB7-00D0-D533-5A8A-FCE3F9AC1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ED825F-E988-4EA2-B952-54E1570D5915}" type="slidenum">
              <a:rPr lang="en-IN" smtClean="0"/>
              <a:t>‹#›</a:t>
            </a:fld>
            <a:endParaRPr lang="en-IN"/>
          </a:p>
        </p:txBody>
      </p:sp>
    </p:spTree>
    <p:extLst>
      <p:ext uri="{BB962C8B-B14F-4D97-AF65-F5344CB8AC3E}">
        <p14:creationId xmlns:p14="http://schemas.microsoft.com/office/powerpoint/2010/main" val="814540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331720"/>
            <a:ext cx="9601200" cy="822960"/>
          </a:xfrm>
          <a:prstGeom prst="rect">
            <a:avLst/>
          </a:prstGeom>
          <a:noFill/>
          <a:ln/>
        </p:spPr>
        <p:txBody>
          <a:bodyPr wrap="square" lIns="0" tIns="0" rIns="0" bIns="0" rtlCol="0" anchor="ctr"/>
          <a:lstStyle/>
          <a:p>
            <a:pPr marL="0" indent="0">
              <a:buNone/>
            </a:pPr>
            <a:r>
              <a:rPr lang="en-US" sz="4400" b="1" dirty="0">
                <a:solidFill>
                  <a:srgbClr val="1B2A4A"/>
                </a:solidFill>
                <a:latin typeface="Cambria" pitchFamily="34" charset="0"/>
                <a:ea typeface="Cambria" pitchFamily="34" charset="-122"/>
                <a:cs typeface="Cambria" pitchFamily="34" charset="-120"/>
              </a:rPr>
              <a:t>Exploratory Data Analysis</a:t>
            </a:r>
            <a:endParaRPr lang="en-US" sz="4400" dirty="0"/>
          </a:p>
        </p:txBody>
      </p:sp>
      <p:sp>
        <p:nvSpPr>
          <p:cNvPr id="3" name="Text 1"/>
          <p:cNvSpPr txBox="1"/>
          <p:nvPr/>
        </p:nvSpPr>
        <p:spPr>
          <a:xfrm>
            <a:off x="548640" y="2971800"/>
            <a:ext cx="9601200" cy="548640"/>
          </a:xfrm>
          <a:prstGeom prst="rect">
            <a:avLst/>
          </a:prstGeom>
          <a:noFill/>
          <a:ln/>
        </p:spPr>
        <p:txBody>
          <a:bodyPr wrap="square" lIns="0" tIns="0" rIns="0" bIns="0" rtlCol="0" anchor="ctr"/>
          <a:lstStyle/>
          <a:p>
            <a:pPr marL="0" indent="0">
              <a:buNone/>
            </a:pPr>
            <a:r>
              <a:rPr lang="en-US" sz="2400" i="1" dirty="0">
                <a:solidFill>
                  <a:srgbClr val="4A6483"/>
                </a:solidFill>
                <a:latin typeface="Cambria" pitchFamily="34" charset="0"/>
                <a:ea typeface="Cambria" pitchFamily="34" charset="-122"/>
                <a:cs typeface="Cambria" pitchFamily="34" charset="-120"/>
              </a:rPr>
              <a:t>The Titanic Dataset</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a:extLst>
              <a:ext uri="{FF2B5EF4-FFF2-40B4-BE49-F238E27FC236}">
                <a16:creationId xmlns:a16="http://schemas.microsoft.com/office/drawing/2014/main" id="{4237EEE0-C8AB-FC5A-3D2E-D57C7C87B807}"/>
              </a:ext>
            </a:extLst>
          </p:cNvPr>
          <p:cNvSpPr/>
          <p:nvPr/>
        </p:nvSpPr>
        <p:spPr>
          <a:xfrm>
            <a:off x="354600" y="1554480"/>
            <a:ext cx="2468880" cy="1554480"/>
          </a:xfrm>
          <a:prstGeom prst="roundRect">
            <a:avLst>
              <a:gd name="adj" fmla="val 4706"/>
            </a:avLst>
          </a:prstGeom>
          <a:solidFill>
            <a:srgbClr val="F7F8FA"/>
          </a:solidFill>
          <a:ln w="12700">
            <a:solidFill>
              <a:srgbClr val="E4E4E4"/>
            </a:solidFill>
            <a:prstDash val="solid"/>
          </a:ln>
        </p:spPr>
      </p:sp>
      <p:sp>
        <p:nvSpPr>
          <p:cNvPr id="7" name="Text 0">
            <a:extLst>
              <a:ext uri="{FF2B5EF4-FFF2-40B4-BE49-F238E27FC236}">
                <a16:creationId xmlns:a16="http://schemas.microsoft.com/office/drawing/2014/main" id="{81AFB57B-C336-8025-1F68-2D0895C11809}"/>
              </a:ext>
            </a:extLst>
          </p:cNvPr>
          <p:cNvSpPr txBox="1"/>
          <p:nvPr/>
        </p:nvSpPr>
        <p:spPr>
          <a:xfrm>
            <a:off x="548640" y="411480"/>
            <a:ext cx="11091672"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Dataset Overview</a:t>
            </a:r>
            <a:endParaRPr lang="en-US" sz="3000" dirty="0"/>
          </a:p>
        </p:txBody>
      </p:sp>
      <p:sp>
        <p:nvSpPr>
          <p:cNvPr id="9" name="Text 3">
            <a:extLst>
              <a:ext uri="{FF2B5EF4-FFF2-40B4-BE49-F238E27FC236}">
                <a16:creationId xmlns:a16="http://schemas.microsoft.com/office/drawing/2014/main" id="{AF5A4C7F-BC40-0BEF-94C6-0CD94FF946C9}"/>
              </a:ext>
            </a:extLst>
          </p:cNvPr>
          <p:cNvSpPr txBox="1"/>
          <p:nvPr/>
        </p:nvSpPr>
        <p:spPr>
          <a:xfrm>
            <a:off x="354600" y="1737360"/>
            <a:ext cx="2468880" cy="64008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891</a:t>
            </a:r>
            <a:endParaRPr lang="en-US" sz="3000" dirty="0"/>
          </a:p>
        </p:txBody>
      </p:sp>
      <p:sp>
        <p:nvSpPr>
          <p:cNvPr id="11" name="Text 4">
            <a:extLst>
              <a:ext uri="{FF2B5EF4-FFF2-40B4-BE49-F238E27FC236}">
                <a16:creationId xmlns:a16="http://schemas.microsoft.com/office/drawing/2014/main" id="{F9207254-86CA-337F-21C2-9D31A6D0F529}"/>
              </a:ext>
            </a:extLst>
          </p:cNvPr>
          <p:cNvSpPr txBox="1"/>
          <p:nvPr/>
        </p:nvSpPr>
        <p:spPr>
          <a:xfrm>
            <a:off x="354600" y="2377440"/>
            <a:ext cx="2468880" cy="640080"/>
          </a:xfrm>
          <a:prstGeom prst="rect">
            <a:avLst/>
          </a:prstGeom>
          <a:noFill/>
          <a:ln/>
        </p:spPr>
        <p:txBody>
          <a:bodyPr wrap="square" lIns="0" tIns="0" rIns="0" bIns="0" rtlCol="0" anchor="ctr"/>
          <a:lstStyle/>
          <a:p>
            <a:pPr marL="0" indent="0" algn="ctr">
              <a:buNone/>
            </a:pPr>
            <a:r>
              <a:rPr lang="en-US" sz="1200" dirty="0">
                <a:solidFill>
                  <a:srgbClr val="6E6E6E"/>
                </a:solidFill>
                <a:latin typeface="Calibri" pitchFamily="34" charset="0"/>
                <a:ea typeface="Calibri" pitchFamily="34" charset="-122"/>
                <a:cs typeface="Calibri" pitchFamily="34" charset="-120"/>
              </a:rPr>
              <a:t>Passenger</a:t>
            </a:r>
            <a:endParaRPr lang="en-US" sz="1200" dirty="0"/>
          </a:p>
          <a:p>
            <a:pPr marL="0" indent="0" algn="ctr">
              <a:buNone/>
            </a:pPr>
            <a:r>
              <a:rPr lang="en-US" sz="1200" dirty="0">
                <a:solidFill>
                  <a:srgbClr val="6E6E6E"/>
                </a:solidFill>
                <a:latin typeface="Calibri" pitchFamily="34" charset="0"/>
                <a:ea typeface="Calibri" pitchFamily="34" charset="-122"/>
                <a:cs typeface="Calibri" pitchFamily="34" charset="-120"/>
              </a:rPr>
              <a:t>records</a:t>
            </a:r>
            <a:endParaRPr lang="en-US" sz="1200" dirty="0"/>
          </a:p>
        </p:txBody>
      </p:sp>
      <p:sp>
        <p:nvSpPr>
          <p:cNvPr id="13" name="Shape 2">
            <a:extLst>
              <a:ext uri="{FF2B5EF4-FFF2-40B4-BE49-F238E27FC236}">
                <a16:creationId xmlns:a16="http://schemas.microsoft.com/office/drawing/2014/main" id="{12BD4549-3319-BD07-3978-9E1396ADBE20}"/>
              </a:ext>
            </a:extLst>
          </p:cNvPr>
          <p:cNvSpPr/>
          <p:nvPr/>
        </p:nvSpPr>
        <p:spPr>
          <a:xfrm>
            <a:off x="3293544" y="1554480"/>
            <a:ext cx="2468880" cy="1554480"/>
          </a:xfrm>
          <a:prstGeom prst="roundRect">
            <a:avLst>
              <a:gd name="adj" fmla="val 4706"/>
            </a:avLst>
          </a:prstGeom>
          <a:solidFill>
            <a:srgbClr val="F7F8FA"/>
          </a:solidFill>
          <a:ln w="12700">
            <a:solidFill>
              <a:srgbClr val="E4E4E4"/>
            </a:solidFill>
            <a:prstDash val="solid"/>
          </a:ln>
        </p:spPr>
      </p:sp>
      <p:sp>
        <p:nvSpPr>
          <p:cNvPr id="15" name="Text 6">
            <a:extLst>
              <a:ext uri="{FF2B5EF4-FFF2-40B4-BE49-F238E27FC236}">
                <a16:creationId xmlns:a16="http://schemas.microsoft.com/office/drawing/2014/main" id="{D6F92D64-A39F-264A-AF71-1A524C40C528}"/>
              </a:ext>
            </a:extLst>
          </p:cNvPr>
          <p:cNvSpPr txBox="1"/>
          <p:nvPr/>
        </p:nvSpPr>
        <p:spPr>
          <a:xfrm>
            <a:off x="3293544" y="1737360"/>
            <a:ext cx="2468880" cy="64008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12</a:t>
            </a:r>
            <a:endParaRPr lang="en-US" sz="3000" dirty="0"/>
          </a:p>
        </p:txBody>
      </p:sp>
      <p:sp>
        <p:nvSpPr>
          <p:cNvPr id="17" name="Text 7">
            <a:extLst>
              <a:ext uri="{FF2B5EF4-FFF2-40B4-BE49-F238E27FC236}">
                <a16:creationId xmlns:a16="http://schemas.microsoft.com/office/drawing/2014/main" id="{3AD0DA5E-0963-A388-356B-6F92C73EE8B8}"/>
              </a:ext>
            </a:extLst>
          </p:cNvPr>
          <p:cNvSpPr txBox="1"/>
          <p:nvPr/>
        </p:nvSpPr>
        <p:spPr>
          <a:xfrm>
            <a:off x="3293544" y="2377440"/>
            <a:ext cx="2468880" cy="640080"/>
          </a:xfrm>
          <a:prstGeom prst="rect">
            <a:avLst/>
          </a:prstGeom>
          <a:noFill/>
          <a:ln/>
        </p:spPr>
        <p:txBody>
          <a:bodyPr wrap="square" lIns="0" tIns="0" rIns="0" bIns="0" rtlCol="0" anchor="ctr"/>
          <a:lstStyle/>
          <a:p>
            <a:pPr marL="0" indent="0" algn="ctr">
              <a:buNone/>
            </a:pPr>
            <a:r>
              <a:rPr lang="en-US" sz="1200" dirty="0"/>
              <a:t>Total Columns</a:t>
            </a:r>
          </a:p>
        </p:txBody>
      </p:sp>
      <p:sp>
        <p:nvSpPr>
          <p:cNvPr id="19" name="Shape 2">
            <a:extLst>
              <a:ext uri="{FF2B5EF4-FFF2-40B4-BE49-F238E27FC236}">
                <a16:creationId xmlns:a16="http://schemas.microsoft.com/office/drawing/2014/main" id="{7EB70F2F-1983-1E7D-F065-26109C7EEEB1}"/>
              </a:ext>
            </a:extLst>
          </p:cNvPr>
          <p:cNvSpPr/>
          <p:nvPr/>
        </p:nvSpPr>
        <p:spPr>
          <a:xfrm>
            <a:off x="6232488" y="1554480"/>
            <a:ext cx="2468880" cy="1554480"/>
          </a:xfrm>
          <a:prstGeom prst="roundRect">
            <a:avLst>
              <a:gd name="adj" fmla="val 4706"/>
            </a:avLst>
          </a:prstGeom>
          <a:solidFill>
            <a:srgbClr val="F7F8FA"/>
          </a:solidFill>
          <a:ln w="12700">
            <a:solidFill>
              <a:srgbClr val="E4E4E4"/>
            </a:solidFill>
            <a:prstDash val="solid"/>
          </a:ln>
        </p:spPr>
      </p:sp>
      <p:sp>
        <p:nvSpPr>
          <p:cNvPr id="21" name="Text 9">
            <a:extLst>
              <a:ext uri="{FF2B5EF4-FFF2-40B4-BE49-F238E27FC236}">
                <a16:creationId xmlns:a16="http://schemas.microsoft.com/office/drawing/2014/main" id="{2899D370-DB9F-0E7E-535D-BCAAA86B26A0}"/>
              </a:ext>
            </a:extLst>
          </p:cNvPr>
          <p:cNvSpPr txBox="1"/>
          <p:nvPr/>
        </p:nvSpPr>
        <p:spPr>
          <a:xfrm>
            <a:off x="6232488" y="1737360"/>
            <a:ext cx="2468880" cy="64008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38.4%</a:t>
            </a:r>
            <a:endParaRPr lang="en-US" sz="3000" dirty="0"/>
          </a:p>
        </p:txBody>
      </p:sp>
      <p:sp>
        <p:nvSpPr>
          <p:cNvPr id="23" name="Text 10">
            <a:extLst>
              <a:ext uri="{FF2B5EF4-FFF2-40B4-BE49-F238E27FC236}">
                <a16:creationId xmlns:a16="http://schemas.microsoft.com/office/drawing/2014/main" id="{FF788375-D38C-55B4-9538-E7A2FC151582}"/>
              </a:ext>
            </a:extLst>
          </p:cNvPr>
          <p:cNvSpPr txBox="1"/>
          <p:nvPr/>
        </p:nvSpPr>
        <p:spPr>
          <a:xfrm>
            <a:off x="6232488" y="2423160"/>
            <a:ext cx="2468880" cy="640080"/>
          </a:xfrm>
          <a:prstGeom prst="rect">
            <a:avLst/>
          </a:prstGeom>
          <a:noFill/>
          <a:ln/>
        </p:spPr>
        <p:txBody>
          <a:bodyPr wrap="square" lIns="0" tIns="0" rIns="0" bIns="0" rtlCol="0" anchor="ctr"/>
          <a:lstStyle/>
          <a:p>
            <a:pPr marL="0" indent="0" algn="ctr">
              <a:buNone/>
            </a:pPr>
            <a:r>
              <a:rPr lang="en-US" sz="1200" dirty="0">
                <a:solidFill>
                  <a:srgbClr val="6E6E6E"/>
                </a:solidFill>
                <a:latin typeface="Calibri" pitchFamily="34" charset="0"/>
                <a:ea typeface="Calibri" pitchFamily="34" charset="-122"/>
                <a:cs typeface="Calibri" pitchFamily="34" charset="-120"/>
              </a:rPr>
              <a:t>Overall</a:t>
            </a:r>
            <a:endParaRPr lang="en-US" sz="1200" dirty="0"/>
          </a:p>
          <a:p>
            <a:pPr marL="0" indent="0" algn="ctr">
              <a:buNone/>
            </a:pPr>
            <a:r>
              <a:rPr lang="en-US" sz="1200" dirty="0">
                <a:solidFill>
                  <a:srgbClr val="6E6E6E"/>
                </a:solidFill>
                <a:latin typeface="Calibri" pitchFamily="34" charset="0"/>
                <a:ea typeface="Calibri" pitchFamily="34" charset="-122"/>
                <a:cs typeface="Calibri" pitchFamily="34" charset="-120"/>
              </a:rPr>
              <a:t>survival rate</a:t>
            </a:r>
            <a:endParaRPr lang="en-US" sz="1200" dirty="0"/>
          </a:p>
        </p:txBody>
      </p:sp>
      <p:sp>
        <p:nvSpPr>
          <p:cNvPr id="25" name="Shape 2">
            <a:extLst>
              <a:ext uri="{FF2B5EF4-FFF2-40B4-BE49-F238E27FC236}">
                <a16:creationId xmlns:a16="http://schemas.microsoft.com/office/drawing/2014/main" id="{DA767FBE-0DA9-AE60-787A-0E607112E930}"/>
              </a:ext>
            </a:extLst>
          </p:cNvPr>
          <p:cNvSpPr/>
          <p:nvPr/>
        </p:nvSpPr>
        <p:spPr>
          <a:xfrm>
            <a:off x="9171432" y="1554480"/>
            <a:ext cx="2468880" cy="1554480"/>
          </a:xfrm>
          <a:prstGeom prst="roundRect">
            <a:avLst>
              <a:gd name="adj" fmla="val 4706"/>
            </a:avLst>
          </a:prstGeom>
          <a:solidFill>
            <a:srgbClr val="F7F8FA"/>
          </a:solidFill>
          <a:ln w="12700">
            <a:solidFill>
              <a:srgbClr val="E4E4E4"/>
            </a:solidFill>
            <a:prstDash val="solid"/>
          </a:ln>
        </p:spPr>
      </p:sp>
      <p:sp>
        <p:nvSpPr>
          <p:cNvPr id="27" name="Text 12">
            <a:extLst>
              <a:ext uri="{FF2B5EF4-FFF2-40B4-BE49-F238E27FC236}">
                <a16:creationId xmlns:a16="http://schemas.microsoft.com/office/drawing/2014/main" id="{43C68773-13B0-02FF-F437-678CCF89F29C}"/>
              </a:ext>
            </a:extLst>
          </p:cNvPr>
          <p:cNvSpPr txBox="1"/>
          <p:nvPr/>
        </p:nvSpPr>
        <p:spPr>
          <a:xfrm>
            <a:off x="9171432" y="1691640"/>
            <a:ext cx="2468880" cy="64008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3</a:t>
            </a:r>
            <a:endParaRPr lang="en-US" sz="3000" dirty="0"/>
          </a:p>
        </p:txBody>
      </p:sp>
      <p:sp>
        <p:nvSpPr>
          <p:cNvPr id="29" name="Text 13">
            <a:extLst>
              <a:ext uri="{FF2B5EF4-FFF2-40B4-BE49-F238E27FC236}">
                <a16:creationId xmlns:a16="http://schemas.microsoft.com/office/drawing/2014/main" id="{52952263-6607-14A5-C9B6-5F22B6453FE7}"/>
              </a:ext>
            </a:extLst>
          </p:cNvPr>
          <p:cNvSpPr txBox="1"/>
          <p:nvPr/>
        </p:nvSpPr>
        <p:spPr>
          <a:xfrm>
            <a:off x="9171432" y="2377440"/>
            <a:ext cx="2468880" cy="640080"/>
          </a:xfrm>
          <a:prstGeom prst="rect">
            <a:avLst/>
          </a:prstGeom>
          <a:noFill/>
          <a:ln/>
        </p:spPr>
        <p:txBody>
          <a:bodyPr wrap="square" lIns="0" tIns="0" rIns="0" bIns="0" rtlCol="0" anchor="ctr"/>
          <a:lstStyle/>
          <a:p>
            <a:pPr marL="0" indent="0" algn="ctr">
              <a:buNone/>
            </a:pPr>
            <a:r>
              <a:rPr lang="en-US" sz="1200" dirty="0">
                <a:solidFill>
                  <a:srgbClr val="6E6E6E"/>
                </a:solidFill>
                <a:latin typeface="Calibri" pitchFamily="34" charset="0"/>
                <a:ea typeface="Calibri" pitchFamily="34" charset="-122"/>
                <a:cs typeface="Calibri" pitchFamily="34" charset="-120"/>
              </a:rPr>
              <a:t>Passenger</a:t>
            </a:r>
            <a:endParaRPr lang="en-US" sz="1200" dirty="0"/>
          </a:p>
          <a:p>
            <a:pPr marL="0" indent="0" algn="ctr">
              <a:buNone/>
            </a:pPr>
            <a:r>
              <a:rPr lang="en-US" sz="1200" dirty="0">
                <a:solidFill>
                  <a:srgbClr val="6E6E6E"/>
                </a:solidFill>
                <a:latin typeface="Calibri" pitchFamily="34" charset="0"/>
                <a:ea typeface="Calibri" pitchFamily="34" charset="-122"/>
                <a:cs typeface="Calibri" pitchFamily="34" charset="-120"/>
              </a:rPr>
              <a:t>classes</a:t>
            </a:r>
            <a:endParaRPr lang="en-US" sz="1200" dirty="0"/>
          </a:p>
        </p:txBody>
      </p:sp>
      <p:sp>
        <p:nvSpPr>
          <p:cNvPr id="30" name="TextBox 29">
            <a:extLst>
              <a:ext uri="{FF2B5EF4-FFF2-40B4-BE49-F238E27FC236}">
                <a16:creationId xmlns:a16="http://schemas.microsoft.com/office/drawing/2014/main" id="{F549FBD3-E6D3-B06D-03A7-E1F5BA505F1C}"/>
              </a:ext>
            </a:extLst>
          </p:cNvPr>
          <p:cNvSpPr txBox="1"/>
          <p:nvPr/>
        </p:nvSpPr>
        <p:spPr>
          <a:xfrm>
            <a:off x="341417" y="3471149"/>
            <a:ext cx="11285712"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Fields</a:t>
            </a:r>
            <a:endParaRPr lang="en-IN" dirty="0">
              <a:latin typeface="Cambria" panose="02040503050406030204" pitchFamily="18" charset="0"/>
              <a:ea typeface="Cambria" panose="02040503050406030204" pitchFamily="18" charset="0"/>
            </a:endParaRPr>
          </a:p>
        </p:txBody>
      </p:sp>
      <p:sp>
        <p:nvSpPr>
          <p:cNvPr id="32" name="Text 15">
            <a:extLst>
              <a:ext uri="{FF2B5EF4-FFF2-40B4-BE49-F238E27FC236}">
                <a16:creationId xmlns:a16="http://schemas.microsoft.com/office/drawing/2014/main" id="{82863FE7-3C40-8BD9-3635-1567FC3CCE3C}"/>
              </a:ext>
            </a:extLst>
          </p:cNvPr>
          <p:cNvSpPr txBox="1"/>
          <p:nvPr/>
        </p:nvSpPr>
        <p:spPr>
          <a:xfrm>
            <a:off x="419336" y="3895575"/>
            <a:ext cx="100584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Survived  </a:t>
            </a:r>
            <a:r>
              <a:rPr lang="en-US" sz="1300" dirty="0">
                <a:solidFill>
                  <a:srgbClr val="2B2B2B"/>
                </a:solidFill>
                <a:latin typeface="Calibri" pitchFamily="34" charset="0"/>
                <a:ea typeface="Calibri" pitchFamily="34" charset="-122"/>
                <a:cs typeface="Calibri" pitchFamily="34" charset="-120"/>
              </a:rPr>
              <a:t>0 = No, 1 = Yes (target variable)</a:t>
            </a:r>
          </a:p>
        </p:txBody>
      </p:sp>
      <p:sp>
        <p:nvSpPr>
          <p:cNvPr id="34" name="Text 16">
            <a:extLst>
              <a:ext uri="{FF2B5EF4-FFF2-40B4-BE49-F238E27FC236}">
                <a16:creationId xmlns:a16="http://schemas.microsoft.com/office/drawing/2014/main" id="{F5558F9B-BDD8-8DEE-0C7F-1CEF50CD1507}"/>
              </a:ext>
            </a:extLst>
          </p:cNvPr>
          <p:cNvSpPr txBox="1"/>
          <p:nvPr/>
        </p:nvSpPr>
        <p:spPr>
          <a:xfrm>
            <a:off x="419336" y="4264905"/>
            <a:ext cx="100584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Pclass  </a:t>
            </a:r>
            <a:r>
              <a:rPr lang="en-US" sz="1300" dirty="0">
                <a:solidFill>
                  <a:srgbClr val="2B2B2B"/>
                </a:solidFill>
                <a:latin typeface="Calibri" pitchFamily="34" charset="0"/>
                <a:ea typeface="Calibri" pitchFamily="34" charset="-122"/>
                <a:cs typeface="Calibri" pitchFamily="34" charset="-120"/>
              </a:rPr>
              <a:t>Ticket class — 1st, 2nd, or 3rd</a:t>
            </a:r>
            <a:endParaRPr lang="en-US" sz="1300" dirty="0"/>
          </a:p>
        </p:txBody>
      </p:sp>
      <p:sp>
        <p:nvSpPr>
          <p:cNvPr id="36" name="Text 17">
            <a:extLst>
              <a:ext uri="{FF2B5EF4-FFF2-40B4-BE49-F238E27FC236}">
                <a16:creationId xmlns:a16="http://schemas.microsoft.com/office/drawing/2014/main" id="{F956961D-7B02-6DDB-6AFE-FD6FFBB00203}"/>
              </a:ext>
            </a:extLst>
          </p:cNvPr>
          <p:cNvSpPr txBox="1"/>
          <p:nvPr/>
        </p:nvSpPr>
        <p:spPr>
          <a:xfrm>
            <a:off x="419336" y="4627371"/>
            <a:ext cx="100584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Sex / Age  </a:t>
            </a:r>
            <a:r>
              <a:rPr lang="en-US" sz="1300" dirty="0">
                <a:solidFill>
                  <a:srgbClr val="2B2B2B"/>
                </a:solidFill>
                <a:latin typeface="Calibri" pitchFamily="34" charset="0"/>
                <a:ea typeface="Calibri" pitchFamily="34" charset="-122"/>
                <a:cs typeface="Calibri" pitchFamily="34" charset="-120"/>
              </a:rPr>
              <a:t>Demographic attributes</a:t>
            </a:r>
            <a:endParaRPr lang="en-US" sz="1300" dirty="0"/>
          </a:p>
        </p:txBody>
      </p:sp>
      <p:sp>
        <p:nvSpPr>
          <p:cNvPr id="38" name="Text 18">
            <a:extLst>
              <a:ext uri="{FF2B5EF4-FFF2-40B4-BE49-F238E27FC236}">
                <a16:creationId xmlns:a16="http://schemas.microsoft.com/office/drawing/2014/main" id="{1F47423A-615E-F613-E3A9-8B3D9DFA1AAC}"/>
              </a:ext>
            </a:extLst>
          </p:cNvPr>
          <p:cNvSpPr txBox="1"/>
          <p:nvPr/>
        </p:nvSpPr>
        <p:spPr>
          <a:xfrm>
            <a:off x="419336" y="4972353"/>
            <a:ext cx="100584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SibSp / Parch  </a:t>
            </a:r>
            <a:r>
              <a:rPr lang="en-US" sz="1300" dirty="0">
                <a:solidFill>
                  <a:srgbClr val="2B2B2B"/>
                </a:solidFill>
                <a:latin typeface="Calibri" pitchFamily="34" charset="0"/>
                <a:ea typeface="Calibri" pitchFamily="34" charset="-122"/>
                <a:cs typeface="Calibri" pitchFamily="34" charset="-120"/>
              </a:rPr>
              <a:t>Siblings/spouses and parents/children aboard</a:t>
            </a:r>
            <a:endParaRPr lang="en-US" sz="1300" dirty="0"/>
          </a:p>
        </p:txBody>
      </p:sp>
      <p:sp>
        <p:nvSpPr>
          <p:cNvPr id="40" name="Text 19">
            <a:extLst>
              <a:ext uri="{FF2B5EF4-FFF2-40B4-BE49-F238E27FC236}">
                <a16:creationId xmlns:a16="http://schemas.microsoft.com/office/drawing/2014/main" id="{05649EA5-F179-F534-5893-F05EC8A9A451}"/>
              </a:ext>
            </a:extLst>
          </p:cNvPr>
          <p:cNvSpPr txBox="1"/>
          <p:nvPr/>
        </p:nvSpPr>
        <p:spPr>
          <a:xfrm>
            <a:off x="419336" y="5368529"/>
            <a:ext cx="10058400" cy="32004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Fare / Embarked  </a:t>
            </a:r>
            <a:r>
              <a:rPr lang="en-US" sz="1300" dirty="0">
                <a:solidFill>
                  <a:srgbClr val="2B2B2B"/>
                </a:solidFill>
                <a:latin typeface="Calibri" pitchFamily="34" charset="0"/>
                <a:ea typeface="Calibri" pitchFamily="34" charset="-122"/>
                <a:cs typeface="Calibri" pitchFamily="34" charset="-120"/>
              </a:rPr>
              <a:t>Ticket price and port of embarkation</a:t>
            </a:r>
            <a:endParaRPr lang="en-US" sz="1300" dirty="0"/>
          </a:p>
        </p:txBody>
      </p:sp>
    </p:spTree>
    <p:extLst>
      <p:ext uri="{BB962C8B-B14F-4D97-AF65-F5344CB8AC3E}">
        <p14:creationId xmlns:p14="http://schemas.microsoft.com/office/powerpoint/2010/main" val="1948818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11AB14CD-60E2-F845-8FE5-996D50E887A1}"/>
              </a:ext>
            </a:extLst>
          </p:cNvPr>
          <p:cNvGraphicFramePr/>
          <p:nvPr/>
        </p:nvGraphicFramePr>
        <p:xfrm>
          <a:off x="548640" y="1554480"/>
          <a:ext cx="5120640" cy="429768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0">
            <a:extLst>
              <a:ext uri="{FF2B5EF4-FFF2-40B4-BE49-F238E27FC236}">
                <a16:creationId xmlns:a16="http://schemas.microsoft.com/office/drawing/2014/main" id="{656D24B0-4A9E-CBD3-FBBC-BB8D763F3AA3}"/>
              </a:ext>
            </a:extLst>
          </p:cNvPr>
          <p:cNvSpPr txBox="1"/>
          <p:nvPr/>
        </p:nvSpPr>
        <p:spPr>
          <a:xfrm>
            <a:off x="548640" y="411480"/>
            <a:ext cx="11091672"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Overall Survival Rate</a:t>
            </a:r>
            <a:endParaRPr lang="en-US" sz="3000" dirty="0"/>
          </a:p>
        </p:txBody>
      </p:sp>
      <p:sp>
        <p:nvSpPr>
          <p:cNvPr id="7" name="Shape 2">
            <a:extLst>
              <a:ext uri="{FF2B5EF4-FFF2-40B4-BE49-F238E27FC236}">
                <a16:creationId xmlns:a16="http://schemas.microsoft.com/office/drawing/2014/main" id="{A83A7787-5383-0EAF-0385-0BE8EC6E20FA}"/>
              </a:ext>
            </a:extLst>
          </p:cNvPr>
          <p:cNvSpPr/>
          <p:nvPr/>
        </p:nvSpPr>
        <p:spPr>
          <a:xfrm>
            <a:off x="6858000" y="2011680"/>
            <a:ext cx="4754880" cy="1828800"/>
          </a:xfrm>
          <a:prstGeom prst="roundRect">
            <a:avLst>
              <a:gd name="adj" fmla="val 4000"/>
            </a:avLst>
          </a:prstGeom>
          <a:solidFill>
            <a:srgbClr val="F7F8FA"/>
          </a:solidFill>
          <a:ln w="12700">
            <a:solidFill>
              <a:srgbClr val="E4E4E4"/>
            </a:solidFill>
            <a:prstDash val="solid"/>
          </a:ln>
        </p:spPr>
      </p:sp>
      <p:sp>
        <p:nvSpPr>
          <p:cNvPr id="9" name="Text 3">
            <a:extLst>
              <a:ext uri="{FF2B5EF4-FFF2-40B4-BE49-F238E27FC236}">
                <a16:creationId xmlns:a16="http://schemas.microsoft.com/office/drawing/2014/main" id="{FB00D068-5872-69A6-23D1-6FC9CBF53CED}"/>
              </a:ext>
            </a:extLst>
          </p:cNvPr>
          <p:cNvSpPr txBox="1"/>
          <p:nvPr/>
        </p:nvSpPr>
        <p:spPr>
          <a:xfrm>
            <a:off x="6858000" y="2194560"/>
            <a:ext cx="4754880" cy="640080"/>
          </a:xfrm>
          <a:prstGeom prst="rect">
            <a:avLst/>
          </a:prstGeom>
          <a:noFill/>
          <a:ln/>
        </p:spPr>
        <p:txBody>
          <a:bodyPr wrap="square" lIns="0" tIns="0" rIns="0" bIns="0" rtlCol="0" anchor="ctr"/>
          <a:lstStyle/>
          <a:p>
            <a:pPr marL="0" indent="0" algn="ctr">
              <a:buNone/>
            </a:pPr>
            <a:r>
              <a:rPr lang="en-US" sz="3400" b="1" dirty="0">
                <a:solidFill>
                  <a:srgbClr val="1B2A4A"/>
                </a:solidFill>
                <a:latin typeface="Cambria" pitchFamily="34" charset="0"/>
                <a:ea typeface="Cambria" pitchFamily="34" charset="-122"/>
                <a:cs typeface="Cambria" pitchFamily="34" charset="-120"/>
              </a:rPr>
              <a:t>342 of 891</a:t>
            </a:r>
            <a:endParaRPr lang="en-US" sz="3400" dirty="0"/>
          </a:p>
        </p:txBody>
      </p:sp>
      <p:sp>
        <p:nvSpPr>
          <p:cNvPr id="11" name="Text 4">
            <a:extLst>
              <a:ext uri="{FF2B5EF4-FFF2-40B4-BE49-F238E27FC236}">
                <a16:creationId xmlns:a16="http://schemas.microsoft.com/office/drawing/2014/main" id="{9C542187-AB19-74D9-0F69-38DC222FC5B8}"/>
              </a:ext>
            </a:extLst>
          </p:cNvPr>
          <p:cNvSpPr txBox="1"/>
          <p:nvPr/>
        </p:nvSpPr>
        <p:spPr>
          <a:xfrm>
            <a:off x="6858000" y="2834640"/>
            <a:ext cx="4754880" cy="822960"/>
          </a:xfrm>
          <a:prstGeom prst="rect">
            <a:avLst/>
          </a:prstGeom>
          <a:noFill/>
          <a:ln/>
        </p:spPr>
        <p:txBody>
          <a:bodyPr wrap="square" lIns="0" tIns="0" rIns="0" bIns="0" rtlCol="0" anchor="ctr"/>
          <a:lstStyle/>
          <a:p>
            <a:pPr marL="0" indent="0" algn="ctr">
              <a:buNone/>
            </a:pPr>
            <a:r>
              <a:rPr lang="en-US" sz="1300" dirty="0">
                <a:solidFill>
                  <a:srgbClr val="6E6E6E"/>
                </a:solidFill>
                <a:latin typeface="Calibri" pitchFamily="34" charset="0"/>
                <a:ea typeface="Calibri" pitchFamily="34" charset="-122"/>
                <a:cs typeface="Calibri" pitchFamily="34" charset="-120"/>
              </a:rPr>
              <a:t>passengers survived — a 38.4% survival rate</a:t>
            </a:r>
            <a:endParaRPr lang="en-US" sz="1300" dirty="0"/>
          </a:p>
        </p:txBody>
      </p:sp>
      <p:sp>
        <p:nvSpPr>
          <p:cNvPr id="12" name="TextBox 11">
            <a:extLst>
              <a:ext uri="{FF2B5EF4-FFF2-40B4-BE49-F238E27FC236}">
                <a16:creationId xmlns:a16="http://schemas.microsoft.com/office/drawing/2014/main" id="{8B5A25BB-58E8-E621-04FD-34EB900E0FF3}"/>
              </a:ext>
            </a:extLst>
          </p:cNvPr>
          <p:cNvSpPr txBox="1"/>
          <p:nvPr/>
        </p:nvSpPr>
        <p:spPr>
          <a:xfrm>
            <a:off x="6918690" y="4232135"/>
            <a:ext cx="4694190" cy="584775"/>
          </a:xfrm>
          <a:prstGeom prst="rect">
            <a:avLst/>
          </a:prstGeom>
          <a:noFill/>
        </p:spPr>
        <p:txBody>
          <a:bodyPr wrap="square" rtlCol="0">
            <a:spAutoFit/>
          </a:bodyPr>
          <a:lstStyle/>
          <a:p>
            <a:r>
              <a:rPr lang="en-US" sz="1600" dirty="0">
                <a:solidFill>
                  <a:srgbClr val="6E6E6E"/>
                </a:solidFill>
                <a:latin typeface="Cambria" panose="02040503050406030204" pitchFamily="18" charset="0"/>
                <a:ea typeface="Cambria" panose="02040503050406030204" pitchFamily="18" charset="0"/>
              </a:rPr>
              <a:t>Survived people majorly consist of women and children on the base of their </a:t>
            </a:r>
            <a:r>
              <a:rPr lang="en-US" sz="1600" dirty="0" err="1">
                <a:solidFill>
                  <a:srgbClr val="6E6E6E"/>
                </a:solidFill>
                <a:latin typeface="Cambria" panose="02040503050406030204" pitchFamily="18" charset="0"/>
                <a:ea typeface="Cambria" panose="02040503050406030204" pitchFamily="18" charset="0"/>
              </a:rPr>
              <a:t>PClass</a:t>
            </a:r>
            <a:r>
              <a:rPr lang="en-US" sz="1600" dirty="0">
                <a:solidFill>
                  <a:srgbClr val="6E6E6E"/>
                </a:solidFill>
                <a:latin typeface="Cambria" panose="02040503050406030204" pitchFamily="18" charset="0"/>
                <a:ea typeface="Cambria" panose="02040503050406030204" pitchFamily="18" charset="0"/>
              </a:rPr>
              <a:t> , Age , etc.</a:t>
            </a:r>
            <a:endParaRPr lang="en-IN" sz="1600" dirty="0">
              <a:solidFill>
                <a:srgbClr val="6E6E6E"/>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49337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AC454AB5-F81E-568D-9463-7EB72AE63C22}"/>
              </a:ext>
            </a:extLst>
          </p:cNvPr>
          <p:cNvGraphicFramePr/>
          <p:nvPr/>
        </p:nvGraphicFramePr>
        <p:xfrm>
          <a:off x="548640" y="1600200"/>
          <a:ext cx="658368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0">
            <a:extLst>
              <a:ext uri="{FF2B5EF4-FFF2-40B4-BE49-F238E27FC236}">
                <a16:creationId xmlns:a16="http://schemas.microsoft.com/office/drawing/2014/main" id="{A2BCE54F-D20D-2F6A-52AE-A2108FC1349A}"/>
              </a:ext>
            </a:extLst>
          </p:cNvPr>
          <p:cNvSpPr txBox="1"/>
          <p:nvPr/>
        </p:nvSpPr>
        <p:spPr>
          <a:xfrm>
            <a:off x="548640" y="411480"/>
            <a:ext cx="11091672"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Survival by Gender</a:t>
            </a:r>
            <a:endParaRPr lang="en-US" sz="3000" dirty="0"/>
          </a:p>
        </p:txBody>
      </p:sp>
      <p:sp>
        <p:nvSpPr>
          <p:cNvPr id="7" name="Text 3">
            <a:extLst>
              <a:ext uri="{FF2B5EF4-FFF2-40B4-BE49-F238E27FC236}">
                <a16:creationId xmlns:a16="http://schemas.microsoft.com/office/drawing/2014/main" id="{470F951C-5F30-66F6-4569-3BF762B7F1BC}"/>
              </a:ext>
            </a:extLst>
          </p:cNvPr>
          <p:cNvSpPr txBox="1"/>
          <p:nvPr/>
        </p:nvSpPr>
        <p:spPr>
          <a:xfrm>
            <a:off x="7863840" y="1828800"/>
            <a:ext cx="3749040" cy="5486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250" dirty="0">
                <a:solidFill>
                  <a:srgbClr val="2B2B2B"/>
                </a:solidFill>
                <a:latin typeface="Cambria" panose="02040503050406030204" pitchFamily="18" charset="0"/>
                <a:ea typeface="Cambria" panose="02040503050406030204" pitchFamily="18" charset="0"/>
                <a:cs typeface="Calibri" pitchFamily="34" charset="-120"/>
              </a:rPr>
              <a:t>74.2% of female passengers survived, compared with 18.9% of male passengers</a:t>
            </a:r>
            <a:r>
              <a:rPr lang="en-US" sz="1250" dirty="0">
                <a:solidFill>
                  <a:srgbClr val="2B2B2B"/>
                </a:solidFill>
                <a:latin typeface="Calibri" pitchFamily="34" charset="0"/>
                <a:ea typeface="Calibri" pitchFamily="34" charset="-122"/>
                <a:cs typeface="Calibri" pitchFamily="34" charset="-120"/>
              </a:rPr>
              <a:t>.</a:t>
            </a:r>
            <a:endParaRPr lang="en-US" sz="1250" dirty="0"/>
          </a:p>
        </p:txBody>
      </p:sp>
      <p:sp>
        <p:nvSpPr>
          <p:cNvPr id="9" name="Text 5">
            <a:extLst>
              <a:ext uri="{FF2B5EF4-FFF2-40B4-BE49-F238E27FC236}">
                <a16:creationId xmlns:a16="http://schemas.microsoft.com/office/drawing/2014/main" id="{4DA0EA93-1A04-8164-CEB6-4AC255A7C97A}"/>
              </a:ext>
            </a:extLst>
          </p:cNvPr>
          <p:cNvSpPr txBox="1"/>
          <p:nvPr/>
        </p:nvSpPr>
        <p:spPr>
          <a:xfrm>
            <a:off x="7863840" y="2971800"/>
            <a:ext cx="3749040" cy="10058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250" dirty="0">
                <a:solidFill>
                  <a:srgbClr val="2B2B2B"/>
                </a:solidFill>
                <a:latin typeface="Cambria" panose="02040503050406030204" pitchFamily="18" charset="0"/>
                <a:ea typeface="Cambria" panose="02040503050406030204" pitchFamily="18" charset="0"/>
                <a:cs typeface="Calibri" pitchFamily="34" charset="-120"/>
              </a:rPr>
              <a:t>Women were more than 3.5x as likely to survive as men.</a:t>
            </a:r>
            <a:endParaRPr lang="en-US" sz="1250" dirty="0">
              <a:latin typeface="Cambria" panose="02040503050406030204" pitchFamily="18" charset="0"/>
              <a:ea typeface="Cambria" panose="02040503050406030204" pitchFamily="18" charset="0"/>
            </a:endParaRPr>
          </a:p>
        </p:txBody>
      </p:sp>
      <p:sp>
        <p:nvSpPr>
          <p:cNvPr id="11" name="Text 7">
            <a:extLst>
              <a:ext uri="{FF2B5EF4-FFF2-40B4-BE49-F238E27FC236}">
                <a16:creationId xmlns:a16="http://schemas.microsoft.com/office/drawing/2014/main" id="{F76BBFC8-A0D1-3E8C-3811-0347FC563F9D}"/>
              </a:ext>
            </a:extLst>
          </p:cNvPr>
          <p:cNvSpPr txBox="1"/>
          <p:nvPr/>
        </p:nvSpPr>
        <p:spPr>
          <a:xfrm>
            <a:off x="7863840" y="4114800"/>
            <a:ext cx="3749040" cy="10058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250" dirty="0">
                <a:solidFill>
                  <a:srgbClr val="2B2B2B"/>
                </a:solidFill>
                <a:latin typeface="Cambria" panose="02040503050406030204" pitchFamily="18" charset="0"/>
                <a:ea typeface="Cambria" panose="02040503050406030204" pitchFamily="18" charset="0"/>
                <a:cs typeface="Calibri" pitchFamily="34" charset="-120"/>
              </a:rPr>
              <a:t>Reflects both evacuation priority and the demographics of lifeboat seating.</a:t>
            </a:r>
            <a:endParaRPr lang="en-US" sz="12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28130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7F06CE5F-8C2D-B412-A831-61A19F75E830}"/>
              </a:ext>
            </a:extLst>
          </p:cNvPr>
          <p:cNvGraphicFramePr/>
          <p:nvPr/>
        </p:nvGraphicFramePr>
        <p:xfrm>
          <a:off x="548640" y="1600200"/>
          <a:ext cx="658368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0">
            <a:extLst>
              <a:ext uri="{FF2B5EF4-FFF2-40B4-BE49-F238E27FC236}">
                <a16:creationId xmlns:a16="http://schemas.microsoft.com/office/drawing/2014/main" id="{134D5C9B-3039-975E-3FAA-6873A71E6F50}"/>
              </a:ext>
            </a:extLst>
          </p:cNvPr>
          <p:cNvSpPr txBox="1"/>
          <p:nvPr/>
        </p:nvSpPr>
        <p:spPr>
          <a:xfrm>
            <a:off x="548640" y="411480"/>
            <a:ext cx="11091672"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Survival by Passenger Class</a:t>
            </a:r>
            <a:endParaRPr lang="en-US" sz="3000" dirty="0"/>
          </a:p>
        </p:txBody>
      </p:sp>
      <p:sp>
        <p:nvSpPr>
          <p:cNvPr id="7" name="Text 3">
            <a:extLst>
              <a:ext uri="{FF2B5EF4-FFF2-40B4-BE49-F238E27FC236}">
                <a16:creationId xmlns:a16="http://schemas.microsoft.com/office/drawing/2014/main" id="{20CE52FB-FEA3-54B5-5335-25728FB93CBB}"/>
              </a:ext>
            </a:extLst>
          </p:cNvPr>
          <p:cNvSpPr txBox="1"/>
          <p:nvPr/>
        </p:nvSpPr>
        <p:spPr>
          <a:xfrm>
            <a:off x="7891272" y="2557083"/>
            <a:ext cx="3749040" cy="10058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250" dirty="0">
                <a:solidFill>
                  <a:srgbClr val="2B2B2B"/>
                </a:solidFill>
                <a:latin typeface="Cambria" panose="02040503050406030204" pitchFamily="18" charset="0"/>
                <a:ea typeface="Cambria" panose="02040503050406030204" pitchFamily="18" charset="0"/>
                <a:cs typeface="Calibri" pitchFamily="34" charset="-120"/>
              </a:rPr>
              <a:t>1st class passengers survived at 62.9%, more than double the 3rd class rate.</a:t>
            </a:r>
            <a:endParaRPr lang="en-US" sz="1250" dirty="0">
              <a:latin typeface="Cambria" panose="02040503050406030204" pitchFamily="18" charset="0"/>
              <a:ea typeface="Cambria" panose="02040503050406030204" pitchFamily="18" charset="0"/>
            </a:endParaRPr>
          </a:p>
        </p:txBody>
      </p:sp>
      <p:sp>
        <p:nvSpPr>
          <p:cNvPr id="9" name="Text 5">
            <a:extLst>
              <a:ext uri="{FF2B5EF4-FFF2-40B4-BE49-F238E27FC236}">
                <a16:creationId xmlns:a16="http://schemas.microsoft.com/office/drawing/2014/main" id="{76641E77-5DE5-9F54-B6B8-9D7584A620BD}"/>
              </a:ext>
            </a:extLst>
          </p:cNvPr>
          <p:cNvSpPr txBox="1"/>
          <p:nvPr/>
        </p:nvSpPr>
        <p:spPr>
          <a:xfrm>
            <a:off x="7891272" y="4023361"/>
            <a:ext cx="3749040" cy="10058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250" dirty="0">
                <a:solidFill>
                  <a:srgbClr val="2B2B2B"/>
                </a:solidFill>
                <a:latin typeface="Cambria" panose="02040503050406030204" pitchFamily="18" charset="0"/>
                <a:ea typeface="Cambria" panose="02040503050406030204" pitchFamily="18" charset="0"/>
                <a:cs typeface="Calibri" pitchFamily="34" charset="-120"/>
              </a:rPr>
              <a:t>Passenger Class and proximity to lifeboats likely favored higher classes because they paid a higher fare.</a:t>
            </a:r>
            <a:endParaRPr lang="en-US" sz="125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04893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9F95F1E9-7F2F-5FD3-0B38-7EF1589DF5C8}"/>
              </a:ext>
            </a:extLst>
          </p:cNvPr>
          <p:cNvGraphicFramePr/>
          <p:nvPr/>
        </p:nvGraphicFramePr>
        <p:xfrm>
          <a:off x="548640" y="1600200"/>
          <a:ext cx="694944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0">
            <a:extLst>
              <a:ext uri="{FF2B5EF4-FFF2-40B4-BE49-F238E27FC236}">
                <a16:creationId xmlns:a16="http://schemas.microsoft.com/office/drawing/2014/main" id="{A4DB146E-FB78-D635-D111-F426CA4AB1FE}"/>
              </a:ext>
            </a:extLst>
          </p:cNvPr>
          <p:cNvSpPr txBox="1"/>
          <p:nvPr/>
        </p:nvSpPr>
        <p:spPr>
          <a:xfrm>
            <a:off x="548640" y="411480"/>
            <a:ext cx="11091672"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Age Distribution</a:t>
            </a:r>
            <a:endParaRPr lang="en-US" sz="3000" dirty="0"/>
          </a:p>
        </p:txBody>
      </p:sp>
      <p:sp>
        <p:nvSpPr>
          <p:cNvPr id="7" name="Text 2">
            <a:extLst>
              <a:ext uri="{FF2B5EF4-FFF2-40B4-BE49-F238E27FC236}">
                <a16:creationId xmlns:a16="http://schemas.microsoft.com/office/drawing/2014/main" id="{23D153F2-05D2-5907-38CB-7A3F79156C47}"/>
              </a:ext>
            </a:extLst>
          </p:cNvPr>
          <p:cNvSpPr txBox="1"/>
          <p:nvPr/>
        </p:nvSpPr>
        <p:spPr>
          <a:xfrm>
            <a:off x="8138160" y="1828800"/>
            <a:ext cx="3474720" cy="45720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29.7 yrs</a:t>
            </a:r>
            <a:endParaRPr lang="en-US" sz="2200" dirty="0"/>
          </a:p>
        </p:txBody>
      </p:sp>
      <p:sp>
        <p:nvSpPr>
          <p:cNvPr id="9" name="Text 3">
            <a:extLst>
              <a:ext uri="{FF2B5EF4-FFF2-40B4-BE49-F238E27FC236}">
                <a16:creationId xmlns:a16="http://schemas.microsoft.com/office/drawing/2014/main" id="{488CADE3-2338-E89D-D9CC-76E28E8E0F6D}"/>
              </a:ext>
            </a:extLst>
          </p:cNvPr>
          <p:cNvSpPr txBox="1"/>
          <p:nvPr/>
        </p:nvSpPr>
        <p:spPr>
          <a:xfrm>
            <a:off x="8138160" y="2286000"/>
            <a:ext cx="3474720" cy="365760"/>
          </a:xfrm>
          <a:prstGeom prst="rect">
            <a:avLst/>
          </a:prstGeom>
          <a:noFill/>
          <a:ln/>
        </p:spPr>
        <p:txBody>
          <a:bodyPr wrap="square" lIns="0" tIns="0" rIns="0" bIns="0" rtlCol="0" anchor="ctr"/>
          <a:lstStyle/>
          <a:p>
            <a:pPr marL="0" indent="0">
              <a:buNone/>
            </a:pPr>
            <a:r>
              <a:rPr lang="en-US" sz="1200" dirty="0">
                <a:solidFill>
                  <a:srgbClr val="6E6E6E"/>
                </a:solidFill>
                <a:latin typeface="Calibri" pitchFamily="34" charset="0"/>
                <a:ea typeface="Calibri" pitchFamily="34" charset="-122"/>
                <a:cs typeface="Calibri" pitchFamily="34" charset="-120"/>
              </a:rPr>
              <a:t>Mean age</a:t>
            </a:r>
            <a:endParaRPr lang="en-US" sz="1200" dirty="0"/>
          </a:p>
        </p:txBody>
      </p:sp>
      <p:sp>
        <p:nvSpPr>
          <p:cNvPr id="11" name="Text 6">
            <a:extLst>
              <a:ext uri="{FF2B5EF4-FFF2-40B4-BE49-F238E27FC236}">
                <a16:creationId xmlns:a16="http://schemas.microsoft.com/office/drawing/2014/main" id="{17E2CB48-62E6-C84A-418D-9D19CEF85AD1}"/>
              </a:ext>
            </a:extLst>
          </p:cNvPr>
          <p:cNvSpPr txBox="1"/>
          <p:nvPr/>
        </p:nvSpPr>
        <p:spPr>
          <a:xfrm>
            <a:off x="8138160" y="2788920"/>
            <a:ext cx="3474720" cy="45720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19.9%</a:t>
            </a:r>
            <a:endParaRPr lang="en-US" sz="2200" dirty="0"/>
          </a:p>
        </p:txBody>
      </p:sp>
      <p:sp>
        <p:nvSpPr>
          <p:cNvPr id="13" name="Text 7">
            <a:extLst>
              <a:ext uri="{FF2B5EF4-FFF2-40B4-BE49-F238E27FC236}">
                <a16:creationId xmlns:a16="http://schemas.microsoft.com/office/drawing/2014/main" id="{A73B61D1-6CC8-0D02-E546-998A9B8AEBB0}"/>
              </a:ext>
            </a:extLst>
          </p:cNvPr>
          <p:cNvSpPr txBox="1"/>
          <p:nvPr/>
        </p:nvSpPr>
        <p:spPr>
          <a:xfrm>
            <a:off x="8138160" y="3246120"/>
            <a:ext cx="3474720" cy="365760"/>
          </a:xfrm>
          <a:prstGeom prst="rect">
            <a:avLst/>
          </a:prstGeom>
          <a:noFill/>
          <a:ln/>
        </p:spPr>
        <p:txBody>
          <a:bodyPr wrap="square" lIns="0" tIns="0" rIns="0" bIns="0" rtlCol="0" anchor="ctr"/>
          <a:lstStyle/>
          <a:p>
            <a:pPr marL="0" indent="0">
              <a:buNone/>
            </a:pPr>
            <a:r>
              <a:rPr lang="en-US" sz="1200" dirty="0">
                <a:solidFill>
                  <a:srgbClr val="6E6E6E"/>
                </a:solidFill>
                <a:latin typeface="Calibri" pitchFamily="34" charset="0"/>
                <a:ea typeface="Calibri" pitchFamily="34" charset="-122"/>
                <a:cs typeface="Calibri" pitchFamily="34" charset="-120"/>
              </a:rPr>
              <a:t>Ages missing</a:t>
            </a:r>
            <a:endParaRPr lang="en-US" sz="1200" dirty="0"/>
          </a:p>
        </p:txBody>
      </p:sp>
      <p:sp>
        <p:nvSpPr>
          <p:cNvPr id="15" name="Text 5">
            <a:extLst>
              <a:ext uri="{FF2B5EF4-FFF2-40B4-BE49-F238E27FC236}">
                <a16:creationId xmlns:a16="http://schemas.microsoft.com/office/drawing/2014/main" id="{5A48010E-110B-553D-579F-1C0E19C833FE}"/>
              </a:ext>
            </a:extLst>
          </p:cNvPr>
          <p:cNvSpPr txBox="1"/>
          <p:nvPr/>
        </p:nvSpPr>
        <p:spPr>
          <a:xfrm>
            <a:off x="8165592" y="3886200"/>
            <a:ext cx="3474720" cy="36576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200" dirty="0">
                <a:solidFill>
                  <a:srgbClr val="6E6E6E"/>
                </a:solidFill>
                <a:latin typeface="Cambria" panose="02040503050406030204" pitchFamily="18" charset="0"/>
                <a:ea typeface="Cambria" panose="02040503050406030204" pitchFamily="18" charset="0"/>
                <a:cs typeface="Calibri" pitchFamily="34" charset="-120"/>
              </a:rPr>
              <a:t>Most passengers on the cruise were around 21-30 years Old.</a:t>
            </a:r>
            <a:endParaRPr lang="en-US" sz="1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14459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4C4C26A-C499-E631-C668-88690C36FF54}"/>
              </a:ext>
            </a:extLst>
          </p:cNvPr>
          <p:cNvSpPr txBox="1"/>
          <p:nvPr/>
        </p:nvSpPr>
        <p:spPr>
          <a:xfrm>
            <a:off x="411075" y="184903"/>
            <a:ext cx="11091672" cy="54864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Key Insights</a:t>
            </a:r>
            <a:endParaRPr lang="en-US" sz="3000" dirty="0"/>
          </a:p>
        </p:txBody>
      </p:sp>
      <p:sp>
        <p:nvSpPr>
          <p:cNvPr id="5" name="TextBox 4">
            <a:extLst>
              <a:ext uri="{FF2B5EF4-FFF2-40B4-BE49-F238E27FC236}">
                <a16:creationId xmlns:a16="http://schemas.microsoft.com/office/drawing/2014/main" id="{C2BF3F4F-A9B7-860F-99E5-22F65A3D2D91}"/>
              </a:ext>
            </a:extLst>
          </p:cNvPr>
          <p:cNvSpPr txBox="1"/>
          <p:nvPr/>
        </p:nvSpPr>
        <p:spPr>
          <a:xfrm>
            <a:off x="339865" y="1045755"/>
            <a:ext cx="11482599" cy="4893647"/>
          </a:xfrm>
          <a:prstGeom prst="rect">
            <a:avLst/>
          </a:prstGeom>
          <a:noFill/>
        </p:spPr>
        <p:txBody>
          <a:bodyPr wrap="square">
            <a:spAutoFit/>
          </a:bodyPr>
          <a:lstStyle/>
          <a:p>
            <a:pPr marL="342900" lvl="0" indent="-342900" algn="l">
              <a:spcAft>
                <a:spcPts val="1200"/>
              </a:spcAft>
              <a:buFont typeface="Arial" panose="020B0604020202020204" pitchFamily="34" charset="0"/>
              <a:buChar char="•"/>
            </a:pPr>
            <a:r>
              <a:rPr lang="en-IN" sz="1600" b="1" i="0" dirty="0">
                <a:solidFill>
                  <a:srgbClr val="6E6E6E"/>
                </a:solidFill>
                <a:effectLst/>
                <a:latin typeface="Cambria" panose="02040503050406030204" pitchFamily="18" charset="0"/>
                <a:ea typeface="Cambria" panose="02040503050406030204" pitchFamily="18" charset="0"/>
              </a:rPr>
              <a:t>The above result shows that how many passengers survived(1) and how many didn't survived(0).Only 38.38% people survived which is considered very bad as the Titanic was considered as one of the most advanced and safest ship of that time.</a:t>
            </a:r>
            <a:endParaRPr lang="en-IN" sz="1600" b="0" i="0" dirty="0">
              <a:solidFill>
                <a:srgbClr val="6E6E6E"/>
              </a:solidFill>
              <a:effectLst/>
              <a:latin typeface="Cambria" panose="02040503050406030204" pitchFamily="18" charset="0"/>
              <a:ea typeface="Cambria" panose="02040503050406030204" pitchFamily="18" charset="0"/>
            </a:endParaRPr>
          </a:p>
          <a:p>
            <a:pPr marL="342900" lvl="0" indent="-342900" algn="l">
              <a:spcAft>
                <a:spcPts val="1200"/>
              </a:spcAft>
              <a:buFont typeface="Arial" panose="020B0604020202020204" pitchFamily="34" charset="0"/>
              <a:buChar char="•"/>
            </a:pPr>
            <a:r>
              <a:rPr lang="en-IN" sz="1600" b="1" i="0" dirty="0">
                <a:solidFill>
                  <a:srgbClr val="6E6E6E"/>
                </a:solidFill>
                <a:effectLst/>
                <a:latin typeface="Cambria" panose="02040503050406030204" pitchFamily="18" charset="0"/>
                <a:ea typeface="Cambria" panose="02040503050406030204" pitchFamily="18" charset="0"/>
              </a:rPr>
              <a:t>The above result shows that how many male and how many female has survived. Only 34.76% female died during the breakdown of the Titanic which is considered a small amount in </a:t>
            </a:r>
            <a:r>
              <a:rPr lang="en-IN" sz="1600" b="1" dirty="0" err="1">
                <a:solidFill>
                  <a:srgbClr val="6E6E6E"/>
                </a:solidFill>
                <a:latin typeface="Cambria" panose="02040503050406030204" pitchFamily="18" charset="0"/>
                <a:ea typeface="Cambria" panose="02040503050406030204" pitchFamily="18" charset="0"/>
              </a:rPr>
              <a:t>c</a:t>
            </a:r>
            <a:r>
              <a:rPr lang="en-IN" sz="1600" b="1" i="0" dirty="0" err="1">
                <a:solidFill>
                  <a:srgbClr val="6E6E6E"/>
                </a:solidFill>
                <a:effectLst/>
                <a:latin typeface="Cambria" panose="02040503050406030204" pitchFamily="18" charset="0"/>
                <a:ea typeface="Cambria" panose="02040503050406030204" pitchFamily="18" charset="0"/>
              </a:rPr>
              <a:t>omparision</a:t>
            </a:r>
            <a:r>
              <a:rPr lang="en-IN" sz="1600" b="1" i="0" dirty="0">
                <a:solidFill>
                  <a:srgbClr val="6E6E6E"/>
                </a:solidFill>
                <a:effectLst/>
                <a:latin typeface="Cambria" panose="02040503050406030204" pitchFamily="18" charset="0"/>
                <a:ea typeface="Cambria" panose="02040503050406030204" pitchFamily="18" charset="0"/>
              </a:rPr>
              <a:t> to the percentage of male passenger died which is 81.10%.It is almost 3 times the number of death of female passengers. This analysis shows that female were given more priority at the time of breakdown above men.</a:t>
            </a:r>
            <a:endParaRPr lang="en-IN" sz="1600" b="0" i="0" dirty="0">
              <a:solidFill>
                <a:srgbClr val="6E6E6E"/>
              </a:solidFill>
              <a:effectLst/>
              <a:latin typeface="Cambria" panose="02040503050406030204" pitchFamily="18" charset="0"/>
              <a:ea typeface="Cambria" panose="02040503050406030204" pitchFamily="18" charset="0"/>
            </a:endParaRPr>
          </a:p>
          <a:p>
            <a:pPr marL="342900" lvl="0" indent="-342900" algn="l">
              <a:spcAft>
                <a:spcPts val="1200"/>
              </a:spcAft>
              <a:buFont typeface="Arial" panose="020B0604020202020204" pitchFamily="34" charset="0"/>
              <a:buChar char="•"/>
            </a:pPr>
            <a:r>
              <a:rPr lang="en-IN" sz="1600" b="1" i="0" dirty="0">
                <a:solidFill>
                  <a:srgbClr val="6E6E6E"/>
                </a:solidFill>
                <a:effectLst/>
                <a:latin typeface="Cambria" panose="02040503050406030204" pitchFamily="18" charset="0"/>
                <a:ea typeface="Cambria" panose="02040503050406030204" pitchFamily="18" charset="0"/>
              </a:rPr>
              <a:t>From the result of question 3, we can assess that even if the number of passenger survived from class 3 is higher than class 2 but in reality the percentage of people didn't survived in the class 3 is around 75% whereas the percentage of people didn't survived in the class 2 is 53% which is a very important detail.</a:t>
            </a:r>
            <a:endParaRPr lang="en-IN" sz="1600" b="0" i="0" dirty="0">
              <a:solidFill>
                <a:srgbClr val="6E6E6E"/>
              </a:solidFill>
              <a:effectLst/>
              <a:latin typeface="Cambria" panose="02040503050406030204" pitchFamily="18" charset="0"/>
              <a:ea typeface="Cambria" panose="02040503050406030204" pitchFamily="18" charset="0"/>
            </a:endParaRPr>
          </a:p>
          <a:p>
            <a:pPr marL="342900" lvl="0" indent="-342900" algn="l">
              <a:spcAft>
                <a:spcPts val="1200"/>
              </a:spcAft>
              <a:buFont typeface="Arial" panose="020B0604020202020204" pitchFamily="34" charset="0"/>
              <a:buChar char="•"/>
            </a:pPr>
            <a:r>
              <a:rPr lang="en-IN" sz="1600" b="1" i="0" dirty="0">
                <a:solidFill>
                  <a:srgbClr val="6E6E6E"/>
                </a:solidFill>
                <a:effectLst/>
                <a:latin typeface="Cambria" panose="02040503050406030204" pitchFamily="18" charset="0"/>
                <a:ea typeface="Cambria" panose="02040503050406030204" pitchFamily="18" charset="0"/>
              </a:rPr>
              <a:t>We can see, in the first class only 3 women died whereas number of men died in the first class is 77 which is 26 times more than number of females died and the conditions were even worse in the second and third class in terms of numbers. In the case of survival, women were given priority over men as we see than number of women survived is twice the number of men survived. So, at the end we can draw the conclusion that it is more beneficial to travel with the first class as it comes with priority.</a:t>
            </a:r>
            <a:endParaRPr lang="en-IN" sz="1600" b="0" i="0" dirty="0">
              <a:solidFill>
                <a:srgbClr val="6E6E6E"/>
              </a:solidFill>
              <a:effectLst/>
              <a:latin typeface="Cambria" panose="02040503050406030204" pitchFamily="18" charset="0"/>
              <a:ea typeface="Cambria" panose="02040503050406030204" pitchFamily="18" charset="0"/>
            </a:endParaRPr>
          </a:p>
          <a:p>
            <a:pPr marL="342900" lvl="0" indent="-342900" algn="l">
              <a:spcAft>
                <a:spcPts val="1200"/>
              </a:spcAft>
              <a:buFont typeface="Arial" panose="020B0604020202020204" pitchFamily="34" charset="0"/>
              <a:buChar char="•"/>
            </a:pPr>
            <a:r>
              <a:rPr lang="en-IN" sz="1600" b="1" i="0" dirty="0">
                <a:solidFill>
                  <a:srgbClr val="6E6E6E"/>
                </a:solidFill>
                <a:effectLst/>
                <a:latin typeface="Cambria" panose="02040503050406030204" pitchFamily="18" charset="0"/>
                <a:ea typeface="Cambria" panose="02040503050406030204" pitchFamily="18" charset="0"/>
              </a:rPr>
              <a:t>It shows the average fare, the highest fare charged and the least fare charged. It shows you the difference as it would be obvious that the highest fare would be of 1s class and the lowest will be of the 3rd class.</a:t>
            </a:r>
            <a:endParaRPr lang="en-IN" sz="1600" b="0" i="0" dirty="0">
              <a:solidFill>
                <a:srgbClr val="6E6E6E"/>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71877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E60D11-B2FB-2ECD-6B70-D8AE3793CC35}"/>
              </a:ext>
            </a:extLst>
          </p:cNvPr>
          <p:cNvSpPr txBox="1"/>
          <p:nvPr/>
        </p:nvSpPr>
        <p:spPr>
          <a:xfrm>
            <a:off x="2955010" y="2812942"/>
            <a:ext cx="5943600" cy="1446550"/>
          </a:xfrm>
          <a:prstGeom prst="rect">
            <a:avLst/>
          </a:prstGeom>
          <a:noFill/>
        </p:spPr>
        <p:txBody>
          <a:bodyPr wrap="square" rtlCol="0">
            <a:spAutoFit/>
          </a:bodyPr>
          <a:lstStyle/>
          <a:p>
            <a:pPr algn="ctr"/>
            <a:r>
              <a:rPr lang="en-US" sz="8800" dirty="0">
                <a:latin typeface="Brush Script MT" panose="03060802040406070304" pitchFamily="66" charset="0"/>
              </a:rPr>
              <a:t>Thank You</a:t>
            </a:r>
            <a:endParaRPr lang="en-IN" sz="8800" dirty="0">
              <a:latin typeface="Brush Script MT" panose="03060802040406070304" pitchFamily="66" charset="0"/>
            </a:endParaRPr>
          </a:p>
        </p:txBody>
      </p:sp>
    </p:spTree>
    <p:extLst>
      <p:ext uri="{BB962C8B-B14F-4D97-AF65-F5344CB8AC3E}">
        <p14:creationId xmlns:p14="http://schemas.microsoft.com/office/powerpoint/2010/main" val="1173549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545</Words>
  <Application>Microsoft Office PowerPoint</Application>
  <PresentationFormat>Widescreen</PresentationFormat>
  <Paragraphs>47</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Brush Script MT</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hitesh mavani</dc:creator>
  <cp:lastModifiedBy>hitesh mavani</cp:lastModifiedBy>
  <cp:revision>3</cp:revision>
  <dcterms:created xsi:type="dcterms:W3CDTF">2026-09-07T23:21:04Z</dcterms:created>
  <dcterms:modified xsi:type="dcterms:W3CDTF">2026-09-07T23:30:45Z</dcterms:modified>
</cp:coreProperties>
</file>